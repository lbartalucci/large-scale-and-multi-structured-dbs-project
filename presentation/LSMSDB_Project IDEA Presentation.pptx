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2" r:id="rId9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/>
    <p:restoredTop sz="92252" autoAdjust="0"/>
  </p:normalViewPr>
  <p:slideViewPr>
    <p:cSldViewPr snapToGrid="0" snapToObjects="1">
      <p:cViewPr varScale="1">
        <p:scale>
          <a:sx n="102" d="100"/>
          <a:sy n="102" d="100"/>
        </p:scale>
        <p:origin x="8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o Ducange" userId="3881275a-5346-4624-88aa-cc4682e089e6" providerId="ADAL" clId="{C6FD75D0-1BD6-D24F-8478-1D18359B7B21}"/>
    <pc:docChg chg="modSld">
      <pc:chgData name="Pietro Ducange" userId="3881275a-5346-4624-88aa-cc4682e089e6" providerId="ADAL" clId="{C6FD75D0-1BD6-D24F-8478-1D18359B7B21}" dt="2025-10-29T09:36:22.292" v="59" actId="20577"/>
      <pc:docMkLst>
        <pc:docMk/>
      </pc:docMkLst>
      <pc:sldChg chg="modSp mod">
        <pc:chgData name="Pietro Ducange" userId="3881275a-5346-4624-88aa-cc4682e089e6" providerId="ADAL" clId="{C6FD75D0-1BD6-D24F-8478-1D18359B7B21}" dt="2025-10-29T09:36:00.512" v="55" actId="20577"/>
        <pc:sldMkLst>
          <pc:docMk/>
          <pc:sldMk cId="877565826" sldId="260"/>
        </pc:sldMkLst>
        <pc:spChg chg="mod">
          <ac:chgData name="Pietro Ducange" userId="3881275a-5346-4624-88aa-cc4682e089e6" providerId="ADAL" clId="{C6FD75D0-1BD6-D24F-8478-1D18359B7B21}" dt="2025-10-29T09:36:00.512" v="55" actId="20577"/>
          <ac:spMkLst>
            <pc:docMk/>
            <pc:sldMk cId="877565826" sldId="260"/>
            <ac:spMk id="3" creationId="{EACFDDDE-7C48-D314-60A3-49ADC540D82F}"/>
          </ac:spMkLst>
        </pc:spChg>
      </pc:sldChg>
      <pc:sldChg chg="modSp mod">
        <pc:chgData name="Pietro Ducange" userId="3881275a-5346-4624-88aa-cc4682e089e6" providerId="ADAL" clId="{C6FD75D0-1BD6-D24F-8478-1D18359B7B21}" dt="2025-10-29T09:36:10.967" v="56"/>
        <pc:sldMkLst>
          <pc:docMk/>
          <pc:sldMk cId="4165861081" sldId="261"/>
        </pc:sldMkLst>
        <pc:spChg chg="mod">
          <ac:chgData name="Pietro Ducange" userId="3881275a-5346-4624-88aa-cc4682e089e6" providerId="ADAL" clId="{C6FD75D0-1BD6-D24F-8478-1D18359B7B21}" dt="2025-10-29T09:36:10.967" v="56"/>
          <ac:spMkLst>
            <pc:docMk/>
            <pc:sldMk cId="4165861081" sldId="261"/>
            <ac:spMk id="3" creationId="{DB1C88CA-0927-DAAA-D3C2-B7F66AC697BD}"/>
          </ac:spMkLst>
        </pc:spChg>
      </pc:sldChg>
      <pc:sldChg chg="modSp mod">
        <pc:chgData name="Pietro Ducange" userId="3881275a-5346-4624-88aa-cc4682e089e6" providerId="ADAL" clId="{C6FD75D0-1BD6-D24F-8478-1D18359B7B21}" dt="2025-10-29T09:36:22.292" v="59" actId="20577"/>
        <pc:sldMkLst>
          <pc:docMk/>
          <pc:sldMk cId="1127430590" sldId="262"/>
        </pc:sldMkLst>
        <pc:spChg chg="mod">
          <ac:chgData name="Pietro Ducange" userId="3881275a-5346-4624-88aa-cc4682e089e6" providerId="ADAL" clId="{C6FD75D0-1BD6-D24F-8478-1D18359B7B21}" dt="2025-10-29T09:36:22.292" v="59" actId="20577"/>
          <ac:spMkLst>
            <pc:docMk/>
            <pc:sldMk cId="1127430590" sldId="262"/>
            <ac:spMk id="3" creationId="{EFC5B629-449B-CCE7-ABFD-1228AD6ABB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95162-6873-F647-B392-BF6A1F606277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DF8BA-B6A2-CC4D-B552-37BF044E104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86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81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111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68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5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08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5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25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6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0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13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2741" y="90093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Fare </a:t>
            </a:r>
            <a:r>
              <a:rPr lang="en-US" noProof="0" dirty="0" err="1"/>
              <a:t>clic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82741" y="1350522"/>
            <a:ext cx="8761797" cy="479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Fare </a:t>
            </a:r>
            <a:r>
              <a:rPr lang="en-US" noProof="0" dirty="0" err="1"/>
              <a:t>clic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</a:t>
            </a:r>
            <a:r>
              <a:rPr lang="en-US" noProof="0" dirty="0" err="1"/>
              <a:t>gli</a:t>
            </a:r>
            <a:r>
              <a:rPr lang="en-US" noProof="0" dirty="0"/>
              <a:t> </a:t>
            </a:r>
            <a:r>
              <a:rPr lang="en-US" noProof="0" dirty="0" err="1"/>
              <a:t>stili</a:t>
            </a:r>
            <a:r>
              <a:rPr lang="en-US" noProof="0" dirty="0"/>
              <a:t> del </a:t>
            </a:r>
            <a:r>
              <a:rPr lang="en-US" noProof="0" dirty="0" err="1"/>
              <a:t>testo</a:t>
            </a:r>
            <a:r>
              <a:rPr lang="en-US" noProof="0" dirty="0"/>
              <a:t> </a:t>
            </a:r>
            <a:r>
              <a:rPr lang="en-US" noProof="0" dirty="0" err="1"/>
              <a:t>dello</a:t>
            </a:r>
            <a:r>
              <a:rPr lang="en-US" noProof="0" dirty="0"/>
              <a:t> schema</a:t>
            </a:r>
          </a:p>
          <a:p>
            <a:pPr lvl="1"/>
            <a:r>
              <a:rPr lang="en-US" noProof="0" dirty="0"/>
              <a:t>Secondo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2"/>
            <a:r>
              <a:rPr lang="en-US" noProof="0" dirty="0" err="1"/>
              <a:t>Terzo</a:t>
            </a:r>
            <a:r>
              <a:rPr lang="en-US" noProof="0" dirty="0"/>
              <a:t>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3"/>
            <a:r>
              <a:rPr lang="en-US" noProof="0" dirty="0"/>
              <a:t>Quarto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4"/>
            <a:r>
              <a:rPr lang="en-US" noProof="0" dirty="0" err="1"/>
              <a:t>Quinto</a:t>
            </a:r>
            <a:r>
              <a:rPr lang="en-US" noProof="0" dirty="0"/>
              <a:t> </a:t>
            </a:r>
            <a:r>
              <a:rPr lang="en-US" noProof="0" dirty="0" err="1"/>
              <a:t>livello</a:t>
            </a:r>
            <a:endParaRPr lang="en-US" noProof="0" dirty="0"/>
          </a:p>
        </p:txBody>
      </p:sp>
      <p:pic>
        <p:nvPicPr>
          <p:cNvPr id="9" name="Immagine 8" descr="crossLab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01" y="6226140"/>
            <a:ext cx="1556700" cy="511003"/>
          </a:xfrm>
          <a:prstGeom prst="rect">
            <a:avLst/>
          </a:prstGeom>
        </p:spPr>
      </p:pic>
      <p:pic>
        <p:nvPicPr>
          <p:cNvPr id="10" name="Immagine 9" descr="Schermata 2019-07-02 alle 11.33.44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2" y="6226140"/>
            <a:ext cx="2392045" cy="548860"/>
          </a:xfrm>
          <a:prstGeom prst="rect">
            <a:avLst/>
          </a:prstGeom>
        </p:spPr>
      </p:pic>
      <p:pic>
        <p:nvPicPr>
          <p:cNvPr id="12" name="Immagine 11" descr="logoUnipi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48" y="6144979"/>
            <a:ext cx="1307462" cy="6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8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sz="3900" dirty="0"/>
              <a:t>Large-Scale and Multi-Structured Databases</a:t>
            </a:r>
            <a:br>
              <a:rPr lang="en-US" dirty="0"/>
            </a:br>
            <a:r>
              <a:rPr lang="en-US" b="1" i="1" dirty="0"/>
              <a:t>Project Design</a:t>
            </a:r>
            <a:br>
              <a:rPr lang="en-US" b="1" i="1" dirty="0"/>
            </a:br>
            <a:r>
              <a:rPr lang="en-US" b="1" i="1" dirty="0"/>
              <a:t>&lt;title&gt;</a:t>
            </a:r>
            <a:endParaRPr lang="en-US" sz="3300" i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&lt;</a:t>
            </a:r>
            <a:r>
              <a:rPr lang="it-IT" dirty="0" err="1"/>
              <a:t>authors</a:t>
            </a:r>
            <a:r>
              <a:rPr lang="it-IT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2146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3632E-76E6-2A49-A199-3826627D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Highlights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01C8F0-FB4C-4E4E-804F-9EE05D7441C4}"/>
              </a:ext>
            </a:extLst>
          </p:cNvPr>
          <p:cNvSpPr txBox="1"/>
          <p:nvPr/>
        </p:nvSpPr>
        <p:spPr>
          <a:xfrm>
            <a:off x="424543" y="1233093"/>
            <a:ext cx="83439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i="1" dirty="0"/>
              <a:t>Distributed Video Games Social Media</a:t>
            </a:r>
          </a:p>
          <a:p>
            <a:pPr algn="ctr"/>
            <a:endParaRPr lang="it-IT" sz="2000" dirty="0"/>
          </a:p>
          <a:p>
            <a:r>
              <a:rPr lang="it-IT" b="1" dirty="0"/>
              <a:t>Game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Browse trending, top-rated and recommended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Search by title, genre, category, OS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Order search results by name, rating, price and release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See reviews, positive rating percentage and games' popularity</a:t>
            </a:r>
          </a:p>
          <a:p>
            <a:endParaRPr lang="it-IT" dirty="0"/>
          </a:p>
          <a:p>
            <a:r>
              <a:rPr lang="it-IT" b="1" dirty="0"/>
              <a:t>Users'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 games to the “playing” and “played”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Submit reviews (like/dislike + description) for played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Send friend requests, accept friendships and explore friends'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Get personalized game recommendations based on your preferences</a:t>
            </a:r>
          </a:p>
          <a:p>
            <a:endParaRPr lang="it-IT" dirty="0"/>
          </a:p>
          <a:p>
            <a:r>
              <a:rPr lang="it-IT" b="1" dirty="0"/>
              <a:t>Administrative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Moderate users' behaviors (delete inappropriate reviews, ban or delete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 and remove games, genres and categories from the catalogue</a:t>
            </a:r>
          </a:p>
        </p:txBody>
      </p:sp>
    </p:spTree>
    <p:extLst>
      <p:ext uri="{BB962C8B-B14F-4D97-AF65-F5344CB8AC3E}">
        <p14:creationId xmlns:p14="http://schemas.microsoft.com/office/powerpoint/2010/main" val="104211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Actors and main mock-ups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91F4034-971B-8A4B-888B-5902E8333D6B}"/>
              </a:ext>
            </a:extLst>
          </p:cNvPr>
          <p:cNvSpPr txBox="1"/>
          <p:nvPr/>
        </p:nvSpPr>
        <p:spPr>
          <a:xfrm>
            <a:off x="465364" y="1502228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 actors and draw preliminary mock-ups of the application </a:t>
            </a:r>
          </a:p>
        </p:txBody>
      </p:sp>
    </p:spTree>
    <p:extLst>
      <p:ext uri="{BB962C8B-B14F-4D97-AF65-F5344CB8AC3E}">
        <p14:creationId xmlns:p14="http://schemas.microsoft.com/office/powerpoint/2010/main" val="71099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Actors and main mock-ups (ii)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91F4034-971B-8A4B-888B-5902E8333D6B}"/>
              </a:ext>
            </a:extLst>
          </p:cNvPr>
          <p:cNvSpPr txBox="1"/>
          <p:nvPr/>
        </p:nvSpPr>
        <p:spPr>
          <a:xfrm>
            <a:off x="465364" y="1502228"/>
            <a:ext cx="8213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 actors and draw preliminary mock-ups of the application (use as many slides as needed)</a:t>
            </a:r>
          </a:p>
        </p:txBody>
      </p:sp>
    </p:spTree>
    <p:extLst>
      <p:ext uri="{BB962C8B-B14F-4D97-AF65-F5344CB8AC3E}">
        <p14:creationId xmlns:p14="http://schemas.microsoft.com/office/powerpoint/2010/main" val="91172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A93700-7F87-6E45-9902-A8B2384A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8E8217-0879-6045-A028-80534F620714}"/>
              </a:ext>
            </a:extLst>
          </p:cNvPr>
          <p:cNvSpPr txBox="1"/>
          <p:nvPr/>
        </p:nvSpPr>
        <p:spPr>
          <a:xfrm>
            <a:off x="397485" y="1642016"/>
            <a:ext cx="83490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i="1" dirty="0"/>
              <a:t>Source:</a:t>
            </a:r>
          </a:p>
          <a:p>
            <a:pPr lvl="0"/>
            <a:endParaRPr lang="en-US" sz="2000" b="1" i="1" dirty="0"/>
          </a:p>
          <a:p>
            <a:pPr lvl="0"/>
            <a:r>
              <a:rPr lang="en-US" sz="2000" b="1" i="1" dirty="0"/>
              <a:t>Description:</a:t>
            </a:r>
          </a:p>
          <a:p>
            <a:pPr lvl="0"/>
            <a:endParaRPr lang="en-US" sz="2000" b="1" i="1" dirty="0"/>
          </a:p>
          <a:p>
            <a:pPr lvl="0"/>
            <a:r>
              <a:rPr lang="en-US" sz="2000" b="1" i="1" dirty="0"/>
              <a:t>Volume:</a:t>
            </a:r>
          </a:p>
          <a:p>
            <a:pPr lvl="0"/>
            <a:endParaRPr lang="en-US" sz="2000" b="1" i="1" dirty="0"/>
          </a:p>
          <a:p>
            <a:pPr lvl="0"/>
            <a:r>
              <a:rPr lang="en-US" sz="2000" b="1" i="1" dirty="0"/>
              <a:t>Variety</a:t>
            </a:r>
            <a:r>
              <a:rPr lang="en-US" sz="2000" dirty="0"/>
              <a:t>: </a:t>
            </a:r>
          </a:p>
          <a:p>
            <a:pPr lvl="0"/>
            <a:endParaRPr lang="en-US" sz="2000" b="1" i="1" dirty="0"/>
          </a:p>
          <a:p>
            <a:pPr lvl="0"/>
            <a:r>
              <a:rPr lang="en-US" sz="2000" b="1" i="1" dirty="0"/>
              <a:t>Velocity/Variability</a:t>
            </a:r>
            <a:r>
              <a:rPr lang="en-US" sz="2000" dirty="0"/>
              <a:t>:</a:t>
            </a:r>
            <a:endParaRPr lang="it-IT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667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A7364-9B4E-DC49-AA70-BE5A302D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UML Class Diagram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1DB5ED-240F-3A25-AB3D-755F076EC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6669" y="1578323"/>
            <a:ext cx="7940162" cy="42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9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Relevant Queries and Entities </a:t>
            </a:r>
            <a:br>
              <a:rPr lang="en-US" dirty="0"/>
            </a:br>
            <a:r>
              <a:rPr lang="en-US" dirty="0"/>
              <a:t>handled by Document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ACFDDDE-7C48-D314-60A3-49ADC540D82F}"/>
              </a:ext>
            </a:extLst>
          </p:cNvPr>
          <p:cNvSpPr txBox="1"/>
          <p:nvPr/>
        </p:nvSpPr>
        <p:spPr>
          <a:xfrm>
            <a:off x="538843" y="1469572"/>
            <a:ext cx="74948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List the most relevant functional requirements supported by the Document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compute ratings for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find the highest rated games by genre/category/publisher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allow admin to ban/delete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find the current trending games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List which are the entities stored in the Document DB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87756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and Entities </a:t>
            </a:r>
            <a:br>
              <a:rPr lang="en-US" dirty="0"/>
            </a:br>
            <a:r>
              <a:rPr lang="en-US" dirty="0"/>
              <a:t>handled by Graph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FC5B629-449B-CCE7-ABFD-1228AD6ABB12}"/>
              </a:ext>
            </a:extLst>
          </p:cNvPr>
          <p:cNvSpPr txBox="1"/>
          <p:nvPr/>
        </p:nvSpPr>
        <p:spPr>
          <a:xfrm>
            <a:off x="538843" y="1469572"/>
            <a:ext cx="74948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List the most relevant functional requirements supported by the Graph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recommend games similar to those played by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allow the creation of friendships between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allow a user to view another user's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display the friends who have played a specified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must recommend games played by users similar to the current user</a:t>
            </a:r>
          </a:p>
          <a:p>
            <a:endParaRPr lang="en-US" dirty="0"/>
          </a:p>
          <a:p>
            <a:r>
              <a:rPr lang="en-US" b="1" i="1" dirty="0"/>
              <a:t>List which are the entities stored by the Graph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FB13C8-8C04-BBAA-FD0B-EA2DE68C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35" y="3998421"/>
            <a:ext cx="4488189" cy="21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30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4725</TotalTime>
  <Words>356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di Office</vt:lpstr>
      <vt:lpstr>Large-Scale and Multi-Structured Databases Project Design &lt;title&gt;</vt:lpstr>
      <vt:lpstr>Application Highlights</vt:lpstr>
      <vt:lpstr>Actors and main mock-ups (i)</vt:lpstr>
      <vt:lpstr>Actors and main mock-ups (ii)</vt:lpstr>
      <vt:lpstr>Dataset Description</vt:lpstr>
      <vt:lpstr>Preliminary UML Class Diagram</vt:lpstr>
      <vt:lpstr>Relevant Queries and Entities  handled by Document DB</vt:lpstr>
      <vt:lpstr>Requirements and Entities  handled by Graph DB</vt:lpstr>
    </vt:vector>
  </TitlesOfParts>
  <Company>Università di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and Non-Structured Databases The Database Revolutions</dc:title>
  <dc:creator>Francesco  Marcelloni</dc:creator>
  <cp:lastModifiedBy>Lorenzo Bartalucci</cp:lastModifiedBy>
  <cp:revision>155</cp:revision>
  <dcterms:created xsi:type="dcterms:W3CDTF">2019-07-02T09:26:30Z</dcterms:created>
  <dcterms:modified xsi:type="dcterms:W3CDTF">2026-10-11T09:18:58Z</dcterms:modified>
</cp:coreProperties>
</file>