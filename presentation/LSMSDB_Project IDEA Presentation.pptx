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3" r:id="rId4"/>
    <p:sldId id="267" r:id="rId5"/>
    <p:sldId id="266" r:id="rId6"/>
    <p:sldId id="264" r:id="rId7"/>
    <p:sldId id="265" r:id="rId8"/>
    <p:sldId id="259" r:id="rId9"/>
    <p:sldId id="260" r:id="rId10"/>
    <p:sldId id="262" r:id="rId11"/>
  </p:sldIdLst>
  <p:sldSz cx="9144000" cy="6858000" type="screen4x3"/>
  <p:notesSz cx="6858000" cy="9144000"/>
  <p:defaultTextStyle>
    <a:defPPr>
      <a:defRPr lang="it-IT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/>
    <p:restoredTop sz="92252" autoAdjust="0"/>
  </p:normalViewPr>
  <p:slideViewPr>
    <p:cSldViewPr snapToGrid="0" snapToObjects="1">
      <p:cViewPr varScale="1">
        <p:scale>
          <a:sx n="102" d="100"/>
          <a:sy n="102" d="100"/>
        </p:scale>
        <p:origin x="1740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ietro Ducange" userId="3881275a-5346-4624-88aa-cc4682e089e6" providerId="ADAL" clId="{C6FD75D0-1BD6-D24F-8478-1D18359B7B21}"/>
    <pc:docChg chg="modSld">
      <pc:chgData name="Pietro Ducange" userId="3881275a-5346-4624-88aa-cc4682e089e6" providerId="ADAL" clId="{C6FD75D0-1BD6-D24F-8478-1D18359B7B21}" dt="2025-10-29T09:36:22.292" v="59" actId="20577"/>
      <pc:docMkLst>
        <pc:docMk/>
      </pc:docMkLst>
      <pc:sldChg chg="modSp mod">
        <pc:chgData name="Pietro Ducange" userId="3881275a-5346-4624-88aa-cc4682e089e6" providerId="ADAL" clId="{C6FD75D0-1BD6-D24F-8478-1D18359B7B21}" dt="2025-10-29T09:36:00.512" v="55" actId="20577"/>
        <pc:sldMkLst>
          <pc:docMk/>
          <pc:sldMk cId="877565826" sldId="260"/>
        </pc:sldMkLst>
        <pc:spChg chg="mod">
          <ac:chgData name="Pietro Ducange" userId="3881275a-5346-4624-88aa-cc4682e089e6" providerId="ADAL" clId="{C6FD75D0-1BD6-D24F-8478-1D18359B7B21}" dt="2025-10-29T09:36:00.512" v="55" actId="20577"/>
          <ac:spMkLst>
            <pc:docMk/>
            <pc:sldMk cId="877565826" sldId="260"/>
            <ac:spMk id="3" creationId="{EACFDDDE-7C48-D314-60A3-49ADC540D82F}"/>
          </ac:spMkLst>
        </pc:spChg>
      </pc:sldChg>
      <pc:sldChg chg="modSp mod">
        <pc:chgData name="Pietro Ducange" userId="3881275a-5346-4624-88aa-cc4682e089e6" providerId="ADAL" clId="{C6FD75D0-1BD6-D24F-8478-1D18359B7B21}" dt="2025-10-29T09:36:10.967" v="56"/>
        <pc:sldMkLst>
          <pc:docMk/>
          <pc:sldMk cId="4165861081" sldId="261"/>
        </pc:sldMkLst>
        <pc:spChg chg="mod">
          <ac:chgData name="Pietro Ducange" userId="3881275a-5346-4624-88aa-cc4682e089e6" providerId="ADAL" clId="{C6FD75D0-1BD6-D24F-8478-1D18359B7B21}" dt="2025-10-29T09:36:10.967" v="56"/>
          <ac:spMkLst>
            <pc:docMk/>
            <pc:sldMk cId="4165861081" sldId="261"/>
            <ac:spMk id="3" creationId="{DB1C88CA-0927-DAAA-D3C2-B7F66AC697BD}"/>
          </ac:spMkLst>
        </pc:spChg>
      </pc:sldChg>
      <pc:sldChg chg="modSp mod">
        <pc:chgData name="Pietro Ducange" userId="3881275a-5346-4624-88aa-cc4682e089e6" providerId="ADAL" clId="{C6FD75D0-1BD6-D24F-8478-1D18359B7B21}" dt="2025-10-29T09:36:22.292" v="59" actId="20577"/>
        <pc:sldMkLst>
          <pc:docMk/>
          <pc:sldMk cId="1127430590" sldId="262"/>
        </pc:sldMkLst>
        <pc:spChg chg="mod">
          <ac:chgData name="Pietro Ducange" userId="3881275a-5346-4624-88aa-cc4682e089e6" providerId="ADAL" clId="{C6FD75D0-1BD6-D24F-8478-1D18359B7B21}" dt="2025-10-29T09:36:22.292" v="59" actId="20577"/>
          <ac:spMkLst>
            <pc:docMk/>
            <pc:sldMk cId="1127430590" sldId="262"/>
            <ac:spMk id="3" creationId="{EFC5B629-449B-CCE7-ABFD-1228AD6ABB1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F95162-6873-F647-B392-BF6A1F606277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FDF8BA-B6A2-CC4D-B552-37BF044E104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6860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0815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01116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7685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38557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5088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758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242553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46710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54062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9310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verticale e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18/10/2026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82130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182741" y="90093"/>
            <a:ext cx="876179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dirty="0"/>
              <a:t>Fare </a:t>
            </a:r>
            <a:r>
              <a:rPr lang="en-US" noProof="0" dirty="0" err="1"/>
              <a:t>clic</a:t>
            </a:r>
            <a:r>
              <a:rPr lang="en-US" noProof="0" dirty="0"/>
              <a:t> per </a:t>
            </a:r>
            <a:r>
              <a:rPr lang="en-US" noProof="0" dirty="0" err="1"/>
              <a:t>modificare</a:t>
            </a:r>
            <a:r>
              <a:rPr lang="en-US" noProof="0" dirty="0"/>
              <a:t>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182741" y="1350522"/>
            <a:ext cx="8761797" cy="47944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/>
              <a:t>Fare </a:t>
            </a:r>
            <a:r>
              <a:rPr lang="en-US" noProof="0" dirty="0" err="1"/>
              <a:t>clic</a:t>
            </a:r>
            <a:r>
              <a:rPr lang="en-US" noProof="0" dirty="0"/>
              <a:t> per </a:t>
            </a:r>
            <a:r>
              <a:rPr lang="en-US" noProof="0" dirty="0" err="1"/>
              <a:t>modificare</a:t>
            </a:r>
            <a:r>
              <a:rPr lang="en-US" noProof="0" dirty="0"/>
              <a:t> </a:t>
            </a:r>
            <a:r>
              <a:rPr lang="en-US" noProof="0" dirty="0" err="1"/>
              <a:t>gli</a:t>
            </a:r>
            <a:r>
              <a:rPr lang="en-US" noProof="0" dirty="0"/>
              <a:t> </a:t>
            </a:r>
            <a:r>
              <a:rPr lang="en-US" noProof="0" dirty="0" err="1"/>
              <a:t>stili</a:t>
            </a:r>
            <a:r>
              <a:rPr lang="en-US" noProof="0" dirty="0"/>
              <a:t> del </a:t>
            </a:r>
            <a:r>
              <a:rPr lang="en-US" noProof="0" dirty="0" err="1"/>
              <a:t>testo</a:t>
            </a:r>
            <a:r>
              <a:rPr lang="en-US" noProof="0" dirty="0"/>
              <a:t> </a:t>
            </a:r>
            <a:r>
              <a:rPr lang="en-US" noProof="0" dirty="0" err="1"/>
              <a:t>dello</a:t>
            </a:r>
            <a:r>
              <a:rPr lang="en-US" noProof="0" dirty="0"/>
              <a:t> schema</a:t>
            </a:r>
          </a:p>
          <a:p>
            <a:pPr lvl="1"/>
            <a:r>
              <a:rPr lang="en-US" noProof="0" dirty="0"/>
              <a:t>Secondo </a:t>
            </a:r>
            <a:r>
              <a:rPr lang="en-US" noProof="0" dirty="0" err="1"/>
              <a:t>livello</a:t>
            </a:r>
            <a:endParaRPr lang="en-US" noProof="0" dirty="0"/>
          </a:p>
          <a:p>
            <a:pPr lvl="2"/>
            <a:r>
              <a:rPr lang="en-US" noProof="0" dirty="0" err="1"/>
              <a:t>Terzo</a:t>
            </a:r>
            <a:r>
              <a:rPr lang="en-US" noProof="0" dirty="0"/>
              <a:t> </a:t>
            </a:r>
            <a:r>
              <a:rPr lang="en-US" noProof="0" dirty="0" err="1"/>
              <a:t>livello</a:t>
            </a:r>
            <a:endParaRPr lang="en-US" noProof="0" dirty="0"/>
          </a:p>
          <a:p>
            <a:pPr lvl="3"/>
            <a:r>
              <a:rPr lang="en-US" noProof="0" dirty="0"/>
              <a:t>Quarto </a:t>
            </a:r>
            <a:r>
              <a:rPr lang="en-US" noProof="0" dirty="0" err="1"/>
              <a:t>livello</a:t>
            </a:r>
            <a:endParaRPr lang="en-US" noProof="0" dirty="0"/>
          </a:p>
          <a:p>
            <a:pPr lvl="4"/>
            <a:r>
              <a:rPr lang="en-US" noProof="0" dirty="0" err="1"/>
              <a:t>Quinto</a:t>
            </a:r>
            <a:r>
              <a:rPr lang="en-US" noProof="0" dirty="0"/>
              <a:t> </a:t>
            </a:r>
            <a:r>
              <a:rPr lang="en-US" noProof="0" dirty="0" err="1"/>
              <a:t>livello</a:t>
            </a:r>
            <a:endParaRPr lang="en-US" noProof="0" dirty="0"/>
          </a:p>
        </p:txBody>
      </p:sp>
      <p:pic>
        <p:nvPicPr>
          <p:cNvPr id="9" name="Immagine 8" descr="crossLabLogo.png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101" y="6226140"/>
            <a:ext cx="1556700" cy="511003"/>
          </a:xfrm>
          <a:prstGeom prst="rect">
            <a:avLst/>
          </a:prstGeom>
        </p:spPr>
      </p:pic>
      <p:pic>
        <p:nvPicPr>
          <p:cNvPr id="10" name="Immagine 9" descr="Schermata 2019-07-02 alle 11.33.44.png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42" y="6226140"/>
            <a:ext cx="2392045" cy="548860"/>
          </a:xfrm>
          <a:prstGeom prst="rect">
            <a:avLst/>
          </a:prstGeom>
        </p:spPr>
      </p:pic>
      <p:pic>
        <p:nvPicPr>
          <p:cNvPr id="12" name="Immagine 11" descr="logoUnipi.png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848" y="6144979"/>
            <a:ext cx="1307462" cy="696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882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0" y="2130425"/>
            <a:ext cx="9144000" cy="1470025"/>
          </a:xfrm>
        </p:spPr>
        <p:txBody>
          <a:bodyPr>
            <a:normAutofit fontScale="90000"/>
          </a:bodyPr>
          <a:lstStyle/>
          <a:p>
            <a:r>
              <a:rPr lang="en-US" sz="3900" dirty="0"/>
              <a:t>Large-Scale and Multi-Structured Databases</a:t>
            </a:r>
            <a:br>
              <a:rPr lang="en-US" dirty="0"/>
            </a:br>
            <a:r>
              <a:rPr lang="en-US" b="1" i="1" dirty="0"/>
              <a:t>Project Design</a:t>
            </a:r>
            <a:br>
              <a:rPr lang="en-US" b="1" i="1" dirty="0"/>
            </a:br>
            <a:r>
              <a:rPr lang="en-US" b="1" i="1" dirty="0"/>
              <a:t>GameZone</a:t>
            </a:r>
            <a:endParaRPr lang="en-US" sz="3300" i="1" dirty="0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Gabriele Frassi</a:t>
            </a:r>
            <a:br>
              <a:rPr lang="it-IT" dirty="0"/>
            </a:br>
            <a:r>
              <a:rPr lang="it-IT" dirty="0"/>
              <a:t>Matteo Palumbo</a:t>
            </a:r>
            <a:br>
              <a:rPr lang="it-IT" dirty="0"/>
            </a:br>
            <a:r>
              <a:rPr lang="it-IT" dirty="0"/>
              <a:t>Lorenzo Bartalucci</a:t>
            </a:r>
          </a:p>
        </p:txBody>
      </p:sp>
    </p:spTree>
    <p:extLst>
      <p:ext uri="{BB962C8B-B14F-4D97-AF65-F5344CB8AC3E}">
        <p14:creationId xmlns:p14="http://schemas.microsoft.com/office/powerpoint/2010/main" val="1621469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33632E-76E6-2A49-A199-3826627DF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Highlights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701C8F0-FB4C-4E4E-804F-9EE05D7441C4}"/>
              </a:ext>
            </a:extLst>
          </p:cNvPr>
          <p:cNvSpPr txBox="1"/>
          <p:nvPr/>
        </p:nvSpPr>
        <p:spPr>
          <a:xfrm>
            <a:off x="424543" y="1233093"/>
            <a:ext cx="8343900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200" b="1" i="1" dirty="0"/>
              <a:t>Distributed Video Games Social Media</a:t>
            </a:r>
          </a:p>
          <a:p>
            <a:pPr algn="ctr"/>
            <a:endParaRPr lang="it-IT" sz="2000" dirty="0"/>
          </a:p>
          <a:p>
            <a:r>
              <a:rPr lang="it-IT" b="1" dirty="0"/>
              <a:t>Game Discovery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Browse trending, top-rated and recommended games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Search by title, genre, category, OS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Order search results by name, rating, price and release 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See reviews, positive rating percentage and games' popularity</a:t>
            </a:r>
          </a:p>
          <a:p>
            <a:endParaRPr lang="it-IT" dirty="0"/>
          </a:p>
          <a:p>
            <a:r>
              <a:rPr lang="it-IT" b="1" dirty="0"/>
              <a:t>Users'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Add games to the “playing” and “played” list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Submit reviews (like/dislike + description) for played games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Send friend requests, accept friendships and explore friends' profiles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Get personalized game recommendations based on your preferences</a:t>
            </a:r>
          </a:p>
          <a:p>
            <a:endParaRPr lang="it-IT" dirty="0"/>
          </a:p>
          <a:p>
            <a:r>
              <a:rPr lang="it-IT" b="1" dirty="0"/>
              <a:t>Administrative Operations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Moderate users' behaviors (delete inappropriate reviews, ban or delete users)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Add and remove games, genres and categories from the catalogue</a:t>
            </a:r>
          </a:p>
        </p:txBody>
      </p:sp>
    </p:spTree>
    <p:extLst>
      <p:ext uri="{BB962C8B-B14F-4D97-AF65-F5344CB8AC3E}">
        <p14:creationId xmlns:p14="http://schemas.microsoft.com/office/powerpoint/2010/main" val="1042111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1D8A20-7DC5-3042-A86D-62CF3361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Actors and main mock-ups (</a:t>
            </a:r>
            <a:r>
              <a:rPr lang="en-US" dirty="0" err="1"/>
              <a:t>i</a:t>
            </a:r>
            <a:r>
              <a:rPr lang="en-US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85CCA1-EB18-4A20-7765-D6A0B2B61EE8}"/>
              </a:ext>
            </a:extLst>
          </p:cNvPr>
          <p:cNvSpPr txBox="1"/>
          <p:nvPr/>
        </p:nvSpPr>
        <p:spPr>
          <a:xfrm>
            <a:off x="5247913" y="1555854"/>
            <a:ext cx="15426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b="1" dirty="0"/>
              <a:t>Login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C1957D-76EE-86F4-93EA-A326C5A8E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8110" y="2017519"/>
            <a:ext cx="4082273" cy="3877839"/>
          </a:xfrm>
          <a:prstGeom prst="rect">
            <a:avLst/>
          </a:prstGeom>
          <a:effectLst>
            <a:softEdge rad="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2241EC8-02F7-4A13-0C59-5AEA1DA2E7EA}"/>
              </a:ext>
            </a:extLst>
          </p:cNvPr>
          <p:cNvSpPr txBox="1"/>
          <p:nvPr/>
        </p:nvSpPr>
        <p:spPr>
          <a:xfrm>
            <a:off x="584461" y="2509888"/>
            <a:ext cx="241348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200" b="1" dirty="0"/>
              <a:t>Actors</a:t>
            </a:r>
            <a:r>
              <a:rPr lang="it-IT" sz="22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200" dirty="0"/>
              <a:t>Unregistred 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200" dirty="0"/>
              <a:t>Registered 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200" dirty="0"/>
              <a:t>Admin</a:t>
            </a:r>
          </a:p>
        </p:txBody>
      </p:sp>
    </p:spTree>
    <p:extLst>
      <p:ext uri="{BB962C8B-B14F-4D97-AF65-F5344CB8AC3E}">
        <p14:creationId xmlns:p14="http://schemas.microsoft.com/office/powerpoint/2010/main" val="710998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91C51-B164-385C-E978-57B04A7A8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E0BF77-CBE0-F77C-9FCE-D88FCFA63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Actors and main mock-ups (ii)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6D42F6-1D41-A218-F46A-B392C112B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646" y="1606589"/>
            <a:ext cx="6238978" cy="44227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6CD867-1129-5658-C12E-B8CE0E0482D9}"/>
              </a:ext>
            </a:extLst>
          </p:cNvPr>
          <p:cNvSpPr txBox="1"/>
          <p:nvPr/>
        </p:nvSpPr>
        <p:spPr>
          <a:xfrm>
            <a:off x="3052856" y="1144924"/>
            <a:ext cx="2698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b="1" dirty="0"/>
              <a:t>User Browsing Page</a:t>
            </a:r>
          </a:p>
        </p:txBody>
      </p:sp>
    </p:spTree>
    <p:extLst>
      <p:ext uri="{BB962C8B-B14F-4D97-AF65-F5344CB8AC3E}">
        <p14:creationId xmlns:p14="http://schemas.microsoft.com/office/powerpoint/2010/main" val="23292460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BEA0B-D648-643F-DE25-7F0510A5B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BD1706-BAE5-7653-73A6-2C8851195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Actors and main mock-ups (iii)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19B54B-7E9A-EAD8-06CA-FEE889606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739" y="1605327"/>
            <a:ext cx="4976959" cy="45336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EE007-2FF9-3F7C-BCA1-21532EFB4B02}"/>
              </a:ext>
            </a:extLst>
          </p:cNvPr>
          <p:cNvSpPr txBox="1"/>
          <p:nvPr/>
        </p:nvSpPr>
        <p:spPr>
          <a:xfrm>
            <a:off x="3440927" y="1137254"/>
            <a:ext cx="22454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b="1" dirty="0"/>
              <a:t>Game Discovery</a:t>
            </a:r>
          </a:p>
        </p:txBody>
      </p:sp>
    </p:spTree>
    <p:extLst>
      <p:ext uri="{BB962C8B-B14F-4D97-AF65-F5344CB8AC3E}">
        <p14:creationId xmlns:p14="http://schemas.microsoft.com/office/powerpoint/2010/main" val="31861994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1D8A20-7DC5-3042-A86D-62CF3361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Actors and main mock-ups (iii)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9A665D-4919-C65C-21B6-9D48F1D38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8019" y="1233093"/>
            <a:ext cx="4859483" cy="49113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4BF4DC-4CB0-0DE8-167B-C16291749D5F}"/>
              </a:ext>
            </a:extLst>
          </p:cNvPr>
          <p:cNvSpPr txBox="1"/>
          <p:nvPr/>
        </p:nvSpPr>
        <p:spPr>
          <a:xfrm>
            <a:off x="565608" y="3213556"/>
            <a:ext cx="1577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200" b="1" dirty="0"/>
              <a:t>Admin Page</a:t>
            </a:r>
          </a:p>
        </p:txBody>
      </p:sp>
    </p:spTree>
    <p:extLst>
      <p:ext uri="{BB962C8B-B14F-4D97-AF65-F5344CB8AC3E}">
        <p14:creationId xmlns:p14="http://schemas.microsoft.com/office/powerpoint/2010/main" val="911721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FA93700-7F87-6E45-9902-A8B2384A3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Description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68E8217-0879-6045-A028-80534F620714}"/>
              </a:ext>
            </a:extLst>
          </p:cNvPr>
          <p:cNvSpPr txBox="1"/>
          <p:nvPr/>
        </p:nvSpPr>
        <p:spPr>
          <a:xfrm>
            <a:off x="389124" y="3992226"/>
            <a:ext cx="8349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Variety</a:t>
            </a:r>
            <a:r>
              <a:rPr lang="it-IT" dirty="0"/>
              <a:t>: The preprocessed dataset provides structured data (such as title, appid, price, release date), semi-structured data (categories, genres, requirements) and unstructured data (textual feedbacks, games descriptions). </a:t>
            </a:r>
          </a:p>
          <a:p>
            <a:endParaRPr lang="it-IT" dirty="0"/>
          </a:p>
          <a:p>
            <a:r>
              <a:rPr lang="it-IT" b="1" dirty="0"/>
              <a:t>Velocity/Variability</a:t>
            </a:r>
            <a:r>
              <a:rPr lang="it-IT" dirty="0"/>
              <a:t>: The preprocessed dataset includes both rapidly changing data (e.g., reviews) and slowly changing information (e.g., game information).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B8CC3BE-E754-98E6-6B34-D3A9009CFD7A}"/>
              </a:ext>
            </a:extLst>
          </p:cNvPr>
          <p:cNvGraphicFramePr>
            <a:graphicFrameLocks noGrp="1"/>
          </p:cNvGraphicFramePr>
          <p:nvPr/>
        </p:nvGraphicFramePr>
        <p:xfrm>
          <a:off x="397486" y="1542335"/>
          <a:ext cx="8349028" cy="2199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74514">
                  <a:extLst>
                    <a:ext uri="{9D8B030D-6E8A-4147-A177-3AD203B41FA5}">
                      <a16:colId xmlns:a16="http://schemas.microsoft.com/office/drawing/2014/main" val="1413182676"/>
                    </a:ext>
                  </a:extLst>
                </a:gridCol>
                <a:gridCol w="4174514">
                  <a:extLst>
                    <a:ext uri="{9D8B030D-6E8A-4147-A177-3AD203B41FA5}">
                      <a16:colId xmlns:a16="http://schemas.microsoft.com/office/drawing/2014/main" val="235133271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it-IT" b="1" dirty="0"/>
                        <a:t>Sources</a:t>
                      </a:r>
                      <a:r>
                        <a:rPr lang="it-IT" b="0" dirty="0"/>
                        <a:t> (from </a:t>
                      </a:r>
                      <a:r>
                        <a:rPr lang="it-IT" b="0" u="sng" dirty="0"/>
                        <a:t>kaggle.com</a:t>
                      </a:r>
                      <a:r>
                        <a:rPr lang="it-IT" b="0" dirty="0"/>
                        <a:t>)</a:t>
                      </a:r>
                    </a:p>
                  </a:txBody>
                  <a:tcPr>
                    <a:solidFill>
                      <a:srgbClr val="00AF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09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b="1" dirty="0"/>
                        <a:t>Steam Store Games </a:t>
                      </a:r>
                      <a:r>
                        <a:rPr lang="it-IT" dirty="0"/>
                        <a:t>by </a:t>
                      </a:r>
                      <a:r>
                        <a:rPr lang="it-IT" i="1" dirty="0"/>
                        <a:t>Nik Davis</a:t>
                      </a:r>
                      <a:br>
                        <a:rPr lang="it-IT" dirty="0"/>
                      </a:br>
                      <a:r>
                        <a:rPr lang="it-IT" sz="1600" dirty="0"/>
                        <a:t>Information on videogames including title, description, release date, publisher, pricing, OS support, categories and genres.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b="1" dirty="0"/>
                        <a:t>Steam Reviews </a:t>
                      </a:r>
                      <a:r>
                        <a:rPr lang="it-IT" dirty="0"/>
                        <a:t>by </a:t>
                      </a:r>
                      <a:r>
                        <a:rPr lang="it-IT" i="1" dirty="0"/>
                        <a:t>Larxel</a:t>
                      </a:r>
                      <a:br>
                        <a:rPr lang="it-IT" dirty="0"/>
                      </a:br>
                      <a:r>
                        <a:rPr lang="it-IT" sz="1600" dirty="0"/>
                        <a:t>Videogame reviews featuring a textual feedback and a binary review.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236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sz="1400" b="1" dirty="0"/>
                        <a:t>Original volume</a:t>
                      </a:r>
                      <a:r>
                        <a:rPr lang="it-IT" sz="1400" dirty="0"/>
                        <a:t>: 252.04 MB</a:t>
                      </a:r>
                    </a:p>
                    <a:p>
                      <a:r>
                        <a:rPr lang="it-IT" sz="1400" b="1" dirty="0"/>
                        <a:t>Preprocessed</a:t>
                      </a:r>
                      <a:r>
                        <a:rPr lang="it-IT" sz="1400" dirty="0"/>
                        <a:t>: 36.1 MB (12.814 games, 70% of them have reviews in the preprocessed Steam Reviews)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it-IT" sz="1400" b="1" dirty="0"/>
                        <a:t>Original volume</a:t>
                      </a:r>
                      <a:r>
                        <a:rPr lang="it-IT" sz="1400" dirty="0"/>
                        <a:t>: 2.16 GB</a:t>
                      </a:r>
                    </a:p>
                    <a:p>
                      <a:r>
                        <a:rPr lang="it-IT" sz="1400" b="1" dirty="0"/>
                        <a:t>Preprocessed</a:t>
                      </a:r>
                      <a:r>
                        <a:rPr lang="it-IT" sz="1400" dirty="0"/>
                        <a:t>: 194 MB (368.961 reviews)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57864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1688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1A7364-9B4E-DC49-AA70-BE5A302DE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Preliminary UML Class Diagram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78991F4-EEBB-7612-AE86-3B7984FDB1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9269" y="1299081"/>
            <a:ext cx="8288739" cy="448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792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7EEC7-48BB-B542-9A2A-E3C09D99B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Relevant Queries and Entities </a:t>
            </a:r>
            <a:br>
              <a:rPr lang="en-US" dirty="0"/>
            </a:br>
            <a:r>
              <a:rPr lang="en-US" dirty="0"/>
              <a:t>handled by Document DB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ACFDDDE-7C48-D314-60A3-49ADC540D82F}"/>
              </a:ext>
            </a:extLst>
          </p:cNvPr>
          <p:cNvSpPr txBox="1"/>
          <p:nvPr/>
        </p:nvSpPr>
        <p:spPr>
          <a:xfrm>
            <a:off x="538843" y="1469572"/>
            <a:ext cx="749481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List the most relevant functional requirements supported by the Document DB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compute ratings for games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find the highest rated games by genre/category/publisher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allow admin to ban/delete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find the current trending games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i="1" dirty="0"/>
              <a:t>List which are the entities stored in the Document DB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8775658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7EEC7-48BB-B542-9A2A-E3C09D99B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Requirements and Entities </a:t>
            </a:r>
            <a:br>
              <a:rPr lang="en-US" dirty="0"/>
            </a:br>
            <a:r>
              <a:rPr lang="en-US" dirty="0"/>
              <a:t>handled by Graph DB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FC5B629-449B-CCE7-ABFD-1228AD6ABB12}"/>
              </a:ext>
            </a:extLst>
          </p:cNvPr>
          <p:cNvSpPr txBox="1"/>
          <p:nvPr/>
        </p:nvSpPr>
        <p:spPr>
          <a:xfrm>
            <a:off x="538843" y="1469572"/>
            <a:ext cx="749481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List the most relevant functional requirements supported by the Graph DB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recommend games similar to those played by the 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allow the creation of friendships between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allow a user to view another user's profile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display the friends who have played a specified 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recommend games played by users similar to the current user</a:t>
            </a:r>
          </a:p>
          <a:p>
            <a:endParaRPr lang="en-US" dirty="0"/>
          </a:p>
          <a:p>
            <a:r>
              <a:rPr lang="en-US" b="1" i="1" dirty="0"/>
              <a:t>List which are the entities stored by the Graph DB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4FB13C8-8C04-BBAA-FD0B-EA2DE68C9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0935" y="3998421"/>
            <a:ext cx="4488189" cy="2114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4305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2A3EBFF-ACD3-4D21-8BCD-FA0B5900E11A}">
  <we:reference id="e3b93a0b-ccfa-4110-a55c-43ea778c55ae" version="2.0.0.0" store="EXCatalog" storeType="EXCatalog"/>
  <we:alternateReferences>
    <we:reference id="WA200003915" version="2.0.0.0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4764</TotalTime>
  <Words>511</Words>
  <Application>Microsoft Office PowerPoint</Application>
  <PresentationFormat>On-screen Show (4:3)</PresentationFormat>
  <Paragraphs>68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Tema di Office</vt:lpstr>
      <vt:lpstr>Large-Scale and Multi-Structured Databases Project Design GameZone</vt:lpstr>
      <vt:lpstr>Application Highlights</vt:lpstr>
      <vt:lpstr>Actors and main mock-ups (i)</vt:lpstr>
      <vt:lpstr>Actors and main mock-ups (ii)</vt:lpstr>
      <vt:lpstr>Actors and main mock-ups (iii)</vt:lpstr>
      <vt:lpstr>Actors and main mock-ups (iii)</vt:lpstr>
      <vt:lpstr>Dataset Description</vt:lpstr>
      <vt:lpstr>Preliminary UML Class Diagram</vt:lpstr>
      <vt:lpstr>Relevant Queries and Entities  handled by Document DB</vt:lpstr>
      <vt:lpstr>Requirements and Entities  handled by Graph DB</vt:lpstr>
    </vt:vector>
  </TitlesOfParts>
  <Company>Università di Pisa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Large Scale and Non-Structured Databases The Database Revolutions</dc:title>
  <dc:creator>Francesco  Marcelloni</dc:creator>
  <cp:lastModifiedBy>Lorenzo Bartalucci</cp:lastModifiedBy>
  <cp:revision>158</cp:revision>
  <dcterms:created xsi:type="dcterms:W3CDTF">2019-07-02T09:26:30Z</dcterms:created>
  <dcterms:modified xsi:type="dcterms:W3CDTF">2026-10-18T15:00:50Z</dcterms:modified>
</cp:coreProperties>
</file>